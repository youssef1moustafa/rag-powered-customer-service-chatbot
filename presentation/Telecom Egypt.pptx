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D91"/>
    <a:srgbClr val="1E1B2E"/>
    <a:srgbClr val="2E7D32"/>
    <a:srgbClr val="00897B"/>
    <a:srgbClr val="1565C0"/>
    <a:srgbClr val="F5A623"/>
    <a:srgbClr val="2A2542"/>
    <a:srgbClr val="94DBD5"/>
    <a:srgbClr val="EDA123"/>
    <a:srgbClr val="89C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12E6-CF5C-D271-4170-A9B521E03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F57B0-906F-98D3-F387-993D5EEAE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347C6-9D72-4414-C53A-C495D37D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87CCC-10E0-27CC-3718-230442FD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F6653-787E-1CCE-4159-E03853F2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7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AFCD-1306-A55D-4A9E-935BC9D0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EC6F6-41A2-4726-344E-AC87FB6A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127DF-E0C8-000B-47C9-82A7055C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6D8D9-3243-238B-A2AB-306AA633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09021-A2F4-13EF-CC51-7F486247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9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2C17-F900-EB3F-B54F-B6C09D2C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203A2-4CCC-8B4F-BB4A-8DF288ED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2B671-FEEF-5AB3-D7FC-109853A8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FAFB-B1B5-BC5D-62C5-7537B018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F5D67-4495-A802-E282-04CC4EAB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1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3E32-AC6E-E1D8-3629-6B5B9C67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F5E4-9F8C-43A7-C796-FA4225F17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1A686-3C70-C58B-0C87-572BF7AE5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54BE6-1525-4019-8A9C-BEDEA5F7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97399-F588-EA0E-7331-61A24832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F584B-156D-F9FB-FEDF-31315AA2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7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C4F0-16C3-5A6F-54AE-3FBA9B8C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9CCA2-E02C-D041-F512-BF8FB5201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6B21D-CE5F-6909-F278-5FF610E6A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EFB13-7753-0298-1142-0B1AF6CEB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9D660-85F6-BEFA-60C6-D214E40F3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A2AFA-6DE4-FCE0-D7AD-6201ADD2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EEF61-7AFC-D78E-8E24-5DD3FF6D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4D5E8-2C5E-CA30-BA74-472A298A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8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2449-2FF8-99E1-0ECA-92496A5A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9060F-3941-EF18-A5E7-6FABA9F6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D26F4-2EFA-C435-F4FE-A3298EA9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AFEC7-28E1-6D6D-0A5B-D2B2FD45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3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08555-AC23-4328-0BDA-E32AF2BB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33DE9-F74B-61DD-3A9C-F84D4117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AC83C-D391-5DF4-5805-C2F24AED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8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0980-1532-75B2-B86E-E54D3921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9B92-FF80-5C5E-4828-F78CF018D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157AD-9A4A-EC5D-CBD7-445DB4890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71932-F3E2-EC35-C2E3-466F56E0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89252-3501-0E4C-0142-F3B2F231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4C90C-C6F3-87C7-E020-B6D2C880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8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5166-16AC-7EA6-1323-C3F60B4F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5348D-FC3D-CF10-81F1-5988769BF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4AA30-3150-5426-EC1E-86582320C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01A27-F145-39C6-FE80-5D625D1D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3BBEE-ECEE-C96A-F6AA-AC53F366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E2619-311B-B44F-C1C1-B0DF5249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9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4835-4946-4690-4973-5D04A1A5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B89D6-20BE-CA78-C8CF-CD5F03669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D3E33-B8F7-3A31-08BD-06A9B826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79255-6B7F-1CC2-7B96-41B430E8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7C185-69C9-25E2-2122-F619FD71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0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A83E8-4F0B-07EF-6069-6044F0DA0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CFF7A-EC32-0955-1142-50A6ECEF9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F43EF-2DA0-7B1F-ED61-1087FC89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6977-A5AB-C70A-7167-029EBF52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98B6-9A7B-AB74-0423-C0ACD4AF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9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E7097-4BC7-09F0-C255-C9AB1BD2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07047-C684-72B1-D43E-1242C0F2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186C4-0F46-CA43-02C9-719FD4B5E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B3B54-A7DC-4E47-A028-23C14158C35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3483A-8D74-0D7D-B4C7-1C8076C2C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E1A49-967D-19E4-B8F7-099738762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95E58-9D9D-4626-8928-6DD677DB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e.eg/wps/portal/te/Persona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.eg/wps/portal/te/Persona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e.eg/wps/portal/te/Personal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e.eg/wps/portal/te/Personal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e.eg/wps/portal/te/Personal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Youssef1Moustafa/RAG-Powered-Customer-Service-Chatbo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0D65-EA9A-E72E-4773-AE3E9A4F6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809624"/>
            <a:ext cx="9144000" cy="3190875"/>
          </a:xfrm>
        </p:spPr>
        <p:txBody>
          <a:bodyPr>
            <a:normAutofit fontScale="90000"/>
          </a:bodyPr>
          <a:lstStyle/>
          <a:p>
            <a:pPr algn="l"/>
            <a:r>
              <a:rPr lang="en-US" sz="2700" dirty="0">
                <a:solidFill>
                  <a:srgbClr val="D39124"/>
                </a:solidFill>
              </a:rPr>
              <a:t>Telecom Egypt</a:t>
            </a:r>
            <a:br>
              <a:rPr lang="en-US" sz="3200" b="1" dirty="0">
                <a:solidFill>
                  <a:srgbClr val="FFC000"/>
                </a:solidFill>
              </a:rPr>
            </a:br>
            <a:br>
              <a:rPr lang="en-US" b="1" dirty="0"/>
            </a:br>
            <a:r>
              <a:rPr lang="en-US" sz="4800" b="1" dirty="0">
                <a:solidFill>
                  <a:schemeClr val="bg1"/>
                </a:solidFill>
              </a:rPr>
              <a:t>Intelligent Assistant</a:t>
            </a:r>
            <a:br>
              <a:rPr lang="en-US" sz="4800" b="1" dirty="0">
                <a:solidFill>
                  <a:schemeClr val="bg1"/>
                </a:solidFill>
              </a:rPr>
            </a:br>
            <a:br>
              <a:rPr lang="en-US" b="1" dirty="0"/>
            </a:br>
            <a:r>
              <a:rPr lang="en-US" sz="3200" b="1" dirty="0">
                <a:solidFill>
                  <a:schemeClr val="bg1">
                    <a:lumMod val="50000"/>
                  </a:schemeClr>
                </a:solidFill>
              </a:rPr>
              <a:t>RAG-Powered Customer Service Chatbot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731878FE-FFB4-99E8-F734-D309A5F38A1F}"/>
              </a:ext>
            </a:extLst>
          </p:cNvPr>
          <p:cNvSpPr/>
          <p:nvPr/>
        </p:nvSpPr>
        <p:spPr>
          <a:xfrm>
            <a:off x="9848851" y="1918996"/>
            <a:ext cx="1482790" cy="1510004"/>
          </a:xfrm>
          <a:prstGeom prst="flowChartConnector">
            <a:avLst/>
          </a:prstGeom>
          <a:solidFill>
            <a:srgbClr val="5C2D91"/>
          </a:solidFill>
          <a:ln>
            <a:solidFill>
              <a:srgbClr val="9767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276225" y="0"/>
            <a:ext cx="11915775" cy="152400"/>
          </a:xfrm>
          <a:prstGeom prst="rect">
            <a:avLst/>
          </a:prstGeom>
          <a:solidFill>
            <a:srgbClr val="DE97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B0299-F14A-AC50-D2E8-5C22FB5C059C}"/>
              </a:ext>
            </a:extLst>
          </p:cNvPr>
          <p:cNvSpPr/>
          <p:nvPr/>
        </p:nvSpPr>
        <p:spPr>
          <a:xfrm>
            <a:off x="0" y="0"/>
            <a:ext cx="276225" cy="6858000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25D933-D0B8-28D3-62F4-6F93805F65F3}"/>
              </a:ext>
            </a:extLst>
          </p:cNvPr>
          <p:cNvSpPr/>
          <p:nvPr/>
        </p:nvSpPr>
        <p:spPr>
          <a:xfrm>
            <a:off x="476250" y="4733926"/>
            <a:ext cx="2628900" cy="49530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Arabic &amp; English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A58F17-52A9-52CD-9D4A-B0D4012E104D}"/>
              </a:ext>
            </a:extLst>
          </p:cNvPr>
          <p:cNvSpPr/>
          <p:nvPr/>
        </p:nvSpPr>
        <p:spPr>
          <a:xfrm>
            <a:off x="3346450" y="4733926"/>
            <a:ext cx="2628900" cy="49530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Deployment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7A9B46-B3E1-47B6-6ED6-EAE86E166E1B}"/>
              </a:ext>
            </a:extLst>
          </p:cNvPr>
          <p:cNvSpPr/>
          <p:nvPr/>
        </p:nvSpPr>
        <p:spPr>
          <a:xfrm>
            <a:off x="6216650" y="4733926"/>
            <a:ext cx="2628900" cy="49530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Citations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88C950-AF82-09AC-18FB-DB8FFB8CBDE8}"/>
              </a:ext>
            </a:extLst>
          </p:cNvPr>
          <p:cNvSpPr/>
          <p:nvPr/>
        </p:nvSpPr>
        <p:spPr>
          <a:xfrm>
            <a:off x="9086850" y="4733926"/>
            <a:ext cx="2628900" cy="49530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Multi-format Docs</a:t>
            </a:r>
          </a:p>
        </p:txBody>
      </p:sp>
    </p:spTree>
    <p:extLst>
      <p:ext uri="{BB962C8B-B14F-4D97-AF65-F5344CB8AC3E}">
        <p14:creationId xmlns:p14="http://schemas.microsoft.com/office/powerpoint/2010/main" val="211939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Problem &amp; Objective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17761-2777-5216-D7AE-929C9FFF754E}"/>
              </a:ext>
            </a:extLst>
          </p:cNvPr>
          <p:cNvSpPr/>
          <p:nvPr/>
        </p:nvSpPr>
        <p:spPr>
          <a:xfrm>
            <a:off x="619125" y="1362075"/>
            <a:ext cx="5105400" cy="46672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397B5-A975-5A1C-4811-1CF722C39636}"/>
              </a:ext>
            </a:extLst>
          </p:cNvPr>
          <p:cNvSpPr/>
          <p:nvPr/>
        </p:nvSpPr>
        <p:spPr>
          <a:xfrm>
            <a:off x="619125" y="1362075"/>
            <a:ext cx="5105400" cy="1905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FEC667-5965-2C1C-0940-CE9EF0D6CAE7}"/>
              </a:ext>
            </a:extLst>
          </p:cNvPr>
          <p:cNvSpPr txBox="1"/>
          <p:nvPr/>
        </p:nvSpPr>
        <p:spPr>
          <a:xfrm>
            <a:off x="781050" y="17145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82F2F"/>
                </a:solidFill>
              </a:rPr>
              <a:t>The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2AFFE-7081-C088-7116-021AD2C0913B}"/>
              </a:ext>
            </a:extLst>
          </p:cNvPr>
          <p:cNvSpPr txBox="1"/>
          <p:nvPr/>
        </p:nvSpPr>
        <p:spPr>
          <a:xfrm>
            <a:off x="781049" y="2818537"/>
            <a:ext cx="47910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Thousands of daily customer inquires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wait times for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Repeated questions about packages &amp; billing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24/7 automated Arabic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Agents spend time on simple FAQs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EC0396-A635-B0EF-FC33-6FBBF2F627E6}"/>
              </a:ext>
            </a:extLst>
          </p:cNvPr>
          <p:cNvSpPr/>
          <p:nvPr/>
        </p:nvSpPr>
        <p:spPr>
          <a:xfrm>
            <a:off x="6467477" y="1362075"/>
            <a:ext cx="5105400" cy="46672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54237-6BC6-3D9C-7862-895FE672EAAF}"/>
              </a:ext>
            </a:extLst>
          </p:cNvPr>
          <p:cNvSpPr/>
          <p:nvPr/>
        </p:nvSpPr>
        <p:spPr>
          <a:xfrm>
            <a:off x="6467477" y="1362075"/>
            <a:ext cx="5105400" cy="1905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F25C24-6EB8-5D86-58F6-FC915661D808}"/>
              </a:ext>
            </a:extLst>
          </p:cNvPr>
          <p:cNvSpPr txBox="1"/>
          <p:nvPr/>
        </p:nvSpPr>
        <p:spPr>
          <a:xfrm>
            <a:off x="6781802" y="17145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E7D32"/>
                </a:solidFill>
              </a:rPr>
              <a:t>Our Solution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934B0-A1F4-7605-61EE-C3D92E1055BE}"/>
              </a:ext>
            </a:extLst>
          </p:cNvPr>
          <p:cNvSpPr txBox="1"/>
          <p:nvPr/>
        </p:nvSpPr>
        <p:spPr>
          <a:xfrm>
            <a:off x="6781801" y="2818537"/>
            <a:ext cx="4629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Chatbot trained on </a:t>
            </a:r>
            <a:r>
              <a:rPr lang="en-US" dirty="0">
                <a:hlinkClick r:id="rId2"/>
              </a:rPr>
              <a:t>te.eg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Arabic, English &amp; Egyptian dialect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Available 24/7 – no human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Grounded answers with source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Upload extra docs for context </a:t>
            </a:r>
          </a:p>
        </p:txBody>
      </p:sp>
    </p:spTree>
    <p:extLst>
      <p:ext uri="{BB962C8B-B14F-4D97-AF65-F5344CB8AC3E}">
        <p14:creationId xmlns:p14="http://schemas.microsoft.com/office/powerpoint/2010/main" val="97547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14401"/>
          </a:xfrm>
          <a:prstGeom prst="rect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</a:t>
            </a:r>
            <a:r>
              <a:rPr lang="en-US" sz="2800" b="1" dirty="0"/>
              <a:t>System Architecture</a:t>
            </a:r>
            <a:endParaRPr lang="en-U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25D933-D0B8-28D3-62F4-6F93805F65F3}"/>
              </a:ext>
            </a:extLst>
          </p:cNvPr>
          <p:cNvSpPr/>
          <p:nvPr/>
        </p:nvSpPr>
        <p:spPr>
          <a:xfrm>
            <a:off x="3218656" y="6048375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ChromaDB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A58F17-52A9-52CD-9D4A-B0D4012E104D}"/>
              </a:ext>
            </a:extLst>
          </p:cNvPr>
          <p:cNvSpPr/>
          <p:nvPr/>
        </p:nvSpPr>
        <p:spPr>
          <a:xfrm>
            <a:off x="4979987" y="6067425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7A9B46-B3E1-47B6-6ED6-EAE86E166E1B}"/>
              </a:ext>
            </a:extLst>
          </p:cNvPr>
          <p:cNvSpPr/>
          <p:nvPr/>
        </p:nvSpPr>
        <p:spPr>
          <a:xfrm>
            <a:off x="6741318" y="6067425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88C950-AF82-09AC-18FB-DB8FFB8CBDE8}"/>
              </a:ext>
            </a:extLst>
          </p:cNvPr>
          <p:cNvSpPr/>
          <p:nvPr/>
        </p:nvSpPr>
        <p:spPr>
          <a:xfrm>
            <a:off x="10263981" y="6048376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Langdetect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7D61C-E74B-701A-3134-20619D6C825E}"/>
              </a:ext>
            </a:extLst>
          </p:cNvPr>
          <p:cNvSpPr/>
          <p:nvPr/>
        </p:nvSpPr>
        <p:spPr>
          <a:xfrm>
            <a:off x="2752723" y="3429000"/>
            <a:ext cx="1743075" cy="1400175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Embed</a:t>
            </a:r>
          </a:p>
          <a:p>
            <a:pPr algn="ctr"/>
            <a:r>
              <a:rPr lang="en-US" b="1" dirty="0"/>
              <a:t>Query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B6E6B-D9C9-AA48-4556-354399636AAA}"/>
              </a:ext>
            </a:extLst>
          </p:cNvPr>
          <p:cNvSpPr/>
          <p:nvPr/>
        </p:nvSpPr>
        <p:spPr>
          <a:xfrm>
            <a:off x="366708" y="3429000"/>
            <a:ext cx="1743075" cy="1400175"/>
          </a:xfrm>
          <a:prstGeom prst="rect">
            <a:avLst/>
          </a:prstGeom>
          <a:solidFill>
            <a:srgbClr val="3E6B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User </a:t>
            </a:r>
          </a:p>
          <a:p>
            <a:pPr algn="ctr"/>
            <a:r>
              <a:rPr lang="en-US" b="1" dirty="0"/>
              <a:t>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817C48-0B96-2C7E-B894-E54B3A7C5980}"/>
              </a:ext>
            </a:extLst>
          </p:cNvPr>
          <p:cNvSpPr/>
          <p:nvPr/>
        </p:nvSpPr>
        <p:spPr>
          <a:xfrm>
            <a:off x="2752723" y="1409700"/>
            <a:ext cx="1743075" cy="1400175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Scraper</a:t>
            </a:r>
          </a:p>
          <a:p>
            <a:pPr algn="ctr"/>
            <a:r>
              <a:rPr lang="en-US" dirty="0" err="1"/>
              <a:t>BeautifulSoup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837163-5B19-BABE-188E-5BC04B9C9E70}"/>
              </a:ext>
            </a:extLst>
          </p:cNvPr>
          <p:cNvSpPr/>
          <p:nvPr/>
        </p:nvSpPr>
        <p:spPr>
          <a:xfrm>
            <a:off x="5138735" y="3429000"/>
            <a:ext cx="1743075" cy="1400175"/>
          </a:xfrm>
          <a:prstGeom prst="rect">
            <a:avLst/>
          </a:prstGeom>
          <a:solidFill>
            <a:srgbClr val="F5A6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Retrieve</a:t>
            </a:r>
          </a:p>
          <a:p>
            <a:pPr algn="ctr"/>
            <a:r>
              <a:rPr lang="en-US" b="1" dirty="0"/>
              <a:t>Top-6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F407E6-C96F-3DCE-F802-9352DFB76F64}"/>
              </a:ext>
            </a:extLst>
          </p:cNvPr>
          <p:cNvSpPr/>
          <p:nvPr/>
        </p:nvSpPr>
        <p:spPr>
          <a:xfrm>
            <a:off x="9910762" y="3429000"/>
            <a:ext cx="1743075" cy="1400175"/>
          </a:xfrm>
          <a:prstGeom prst="rect">
            <a:avLst/>
          </a:prstGeom>
          <a:solidFill>
            <a:srgbClr val="2E7D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Answer + </a:t>
            </a:r>
          </a:p>
          <a:p>
            <a:pPr algn="ctr"/>
            <a:r>
              <a:rPr lang="en-US" b="1" dirty="0"/>
              <a:t>Source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E9130D-F816-AFB2-8E12-8C4422304579}"/>
              </a:ext>
            </a:extLst>
          </p:cNvPr>
          <p:cNvSpPr/>
          <p:nvPr/>
        </p:nvSpPr>
        <p:spPr>
          <a:xfrm>
            <a:off x="9910762" y="1409700"/>
            <a:ext cx="1743075" cy="1400175"/>
          </a:xfrm>
          <a:prstGeom prst="rect">
            <a:avLst/>
          </a:prstGeom>
          <a:solidFill>
            <a:srgbClr val="F5A6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ChromaDB</a:t>
            </a:r>
            <a:endParaRPr lang="en-US" b="1" dirty="0"/>
          </a:p>
          <a:p>
            <a:pPr algn="ctr"/>
            <a:r>
              <a:rPr lang="en-US" dirty="0" err="1"/>
              <a:t>Vectore</a:t>
            </a:r>
            <a:r>
              <a:rPr lang="en-US" dirty="0"/>
              <a:t> Store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D227EE-49BD-879D-57F0-18F2DE01D9A6}"/>
              </a:ext>
            </a:extLst>
          </p:cNvPr>
          <p:cNvSpPr/>
          <p:nvPr/>
        </p:nvSpPr>
        <p:spPr>
          <a:xfrm>
            <a:off x="5138736" y="1409700"/>
            <a:ext cx="1743075" cy="1400175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Chunker</a:t>
            </a:r>
            <a:endParaRPr lang="en-US" b="1" dirty="0"/>
          </a:p>
          <a:p>
            <a:pPr algn="ctr"/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8550B2-6D2C-518C-7FBE-B23FDE0AA755}"/>
              </a:ext>
            </a:extLst>
          </p:cNvPr>
          <p:cNvSpPr/>
          <p:nvPr/>
        </p:nvSpPr>
        <p:spPr>
          <a:xfrm>
            <a:off x="7524749" y="1409700"/>
            <a:ext cx="1743075" cy="1400175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Embeddings</a:t>
            </a:r>
          </a:p>
          <a:p>
            <a:pPr algn="ctr"/>
            <a:r>
              <a:rPr lang="en-US" dirty="0"/>
              <a:t>Nomic-embed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D765CA-6637-9A6F-6741-79B6A7085EA4}"/>
              </a:ext>
            </a:extLst>
          </p:cNvPr>
          <p:cNvSpPr/>
          <p:nvPr/>
        </p:nvSpPr>
        <p:spPr>
          <a:xfrm>
            <a:off x="7524750" y="3429000"/>
            <a:ext cx="1743075" cy="1400175"/>
          </a:xfrm>
          <a:prstGeom prst="rect">
            <a:avLst/>
          </a:prstGeom>
          <a:solidFill>
            <a:srgbClr val="0089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LLM</a:t>
            </a:r>
          </a:p>
          <a:p>
            <a:pPr algn="ctr"/>
            <a:r>
              <a:rPr lang="en-US" b="1" dirty="0"/>
              <a:t>Llama3.2:3b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1638A5-B49D-68D8-B35E-B06B8D87C897}"/>
              </a:ext>
            </a:extLst>
          </p:cNvPr>
          <p:cNvSpPr/>
          <p:nvPr/>
        </p:nvSpPr>
        <p:spPr>
          <a:xfrm>
            <a:off x="366708" y="1409700"/>
            <a:ext cx="1743075" cy="1400175"/>
          </a:xfrm>
          <a:prstGeom prst="rect">
            <a:avLst/>
          </a:prstGeom>
          <a:solidFill>
            <a:srgbClr val="0089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Te.eg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/>
              <a:t>Website</a:t>
            </a:r>
          </a:p>
          <a:p>
            <a:pPr algn="ctr"/>
            <a:r>
              <a:rPr lang="en-US" sz="1400" dirty="0"/>
              <a:t>source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0841B5-27B7-C007-8D73-BC473454AB28}"/>
              </a:ext>
            </a:extLst>
          </p:cNvPr>
          <p:cNvSpPr/>
          <p:nvPr/>
        </p:nvSpPr>
        <p:spPr>
          <a:xfrm>
            <a:off x="1457325" y="6048374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46F3B7D-789B-F2CA-2DF9-DAC911AB9B3D}"/>
              </a:ext>
            </a:extLst>
          </p:cNvPr>
          <p:cNvSpPr/>
          <p:nvPr/>
        </p:nvSpPr>
        <p:spPr>
          <a:xfrm>
            <a:off x="8501855" y="6048375"/>
            <a:ext cx="1632743" cy="504825"/>
          </a:xfrm>
          <a:prstGeom prst="round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BeautifulSoup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564445-97C9-5259-4106-C1FA8F53965D}"/>
              </a:ext>
            </a:extLst>
          </p:cNvPr>
          <p:cNvSpPr txBox="1"/>
          <p:nvPr/>
        </p:nvSpPr>
        <p:spPr>
          <a:xfrm>
            <a:off x="85725" y="606742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29923"/>
                </a:solidFill>
              </a:rPr>
              <a:t>Tech </a:t>
            </a:r>
            <a:r>
              <a:rPr lang="en-US" dirty="0" err="1">
                <a:solidFill>
                  <a:srgbClr val="E29923"/>
                </a:solidFill>
              </a:rPr>
              <a:t>stach</a:t>
            </a:r>
            <a:r>
              <a:rPr lang="en-US" dirty="0">
                <a:solidFill>
                  <a:srgbClr val="E29923"/>
                </a:solidFill>
              </a:rPr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B1DF9B-35F9-9258-7D9E-3E30E8923EAC}"/>
              </a:ext>
            </a:extLst>
          </p:cNvPr>
          <p:cNvSpPr txBox="1"/>
          <p:nvPr/>
        </p:nvSpPr>
        <p:spPr>
          <a:xfrm>
            <a:off x="366707" y="5286374"/>
            <a:ext cx="791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95AB"/>
                </a:solidFill>
              </a:rPr>
              <a:t>MMR Retrieval – reduces redundancy in 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0F152-D8CF-F279-B1E8-B34598F72918}"/>
              </a:ext>
            </a:extLst>
          </p:cNvPr>
          <p:cNvSpPr txBox="1"/>
          <p:nvPr/>
        </p:nvSpPr>
        <p:spPr>
          <a:xfrm>
            <a:off x="219075" y="1009650"/>
            <a:ext cx="270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38525"/>
                </a:solidFill>
              </a:rPr>
              <a:t>1- Data Ingestion Pipeline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051C8C-0979-1CDE-9AA3-E6FE8B87F65D}"/>
              </a:ext>
            </a:extLst>
          </p:cNvPr>
          <p:cNvSpPr txBox="1"/>
          <p:nvPr/>
        </p:nvSpPr>
        <p:spPr>
          <a:xfrm>
            <a:off x="219075" y="2943226"/>
            <a:ext cx="270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9C7C3"/>
                </a:solidFill>
              </a:rPr>
              <a:t>2- Query Pipeline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28A389-F6C8-CF67-44EC-9D8DED0AB554}"/>
              </a:ext>
            </a:extLst>
          </p:cNvPr>
          <p:cNvCxnSpPr>
            <a:stCxn id="21" idx="3"/>
            <a:endCxn id="14" idx="1"/>
          </p:cNvCxnSpPr>
          <p:nvPr/>
        </p:nvCxnSpPr>
        <p:spPr>
          <a:xfrm>
            <a:off x="2109783" y="2109788"/>
            <a:ext cx="642940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C8F143-CDEE-952C-E78C-3E6187FB2A05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4495798" y="2109788"/>
            <a:ext cx="642938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0A63FC-CADD-2DE3-A3EC-F3BF4CE8C2E7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881811" y="2109788"/>
            <a:ext cx="642938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420997-EA66-A237-2061-0EAE0B140169}"/>
              </a:ext>
            </a:extLst>
          </p:cNvPr>
          <p:cNvCxnSpPr>
            <a:stCxn id="19" idx="3"/>
            <a:endCxn id="17" idx="1"/>
          </p:cNvCxnSpPr>
          <p:nvPr/>
        </p:nvCxnSpPr>
        <p:spPr>
          <a:xfrm>
            <a:off x="9267824" y="2109788"/>
            <a:ext cx="642938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2EE125-4279-35FE-2068-37CABFBC5F6A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2109783" y="4129088"/>
            <a:ext cx="642940" cy="0"/>
          </a:xfrm>
          <a:prstGeom prst="line">
            <a:avLst/>
          </a:prstGeom>
          <a:ln>
            <a:solidFill>
              <a:srgbClr val="94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4D63B9F-DEC4-08A4-575A-7005BA4BFCE9}"/>
              </a:ext>
            </a:extLst>
          </p:cNvPr>
          <p:cNvCxnSpPr>
            <a:stCxn id="8" idx="3"/>
            <a:endCxn id="15" idx="1"/>
          </p:cNvCxnSpPr>
          <p:nvPr/>
        </p:nvCxnSpPr>
        <p:spPr>
          <a:xfrm>
            <a:off x="4495798" y="4129088"/>
            <a:ext cx="642937" cy="0"/>
          </a:xfrm>
          <a:prstGeom prst="line">
            <a:avLst/>
          </a:prstGeom>
          <a:ln>
            <a:solidFill>
              <a:srgbClr val="94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0F9D6A-C5B0-FA17-6578-4769388196A5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6881810" y="4129088"/>
            <a:ext cx="642940" cy="0"/>
          </a:xfrm>
          <a:prstGeom prst="line">
            <a:avLst/>
          </a:prstGeom>
          <a:ln>
            <a:solidFill>
              <a:srgbClr val="94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36CD68-A924-1A86-E922-9FD3099B23E5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>
            <a:off x="9267825" y="4129088"/>
            <a:ext cx="642937" cy="0"/>
          </a:xfrm>
          <a:prstGeom prst="line">
            <a:avLst/>
          </a:prstGeom>
          <a:ln>
            <a:solidFill>
              <a:srgbClr val="94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5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Key Features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17761-2777-5216-D7AE-929C9FFF754E}"/>
              </a:ext>
            </a:extLst>
          </p:cNvPr>
          <p:cNvSpPr/>
          <p:nvPr/>
        </p:nvSpPr>
        <p:spPr>
          <a:xfrm>
            <a:off x="723896" y="1489591"/>
            <a:ext cx="2838450" cy="2101334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397B5-A975-5A1C-4811-1CF722C39636}"/>
              </a:ext>
            </a:extLst>
          </p:cNvPr>
          <p:cNvSpPr/>
          <p:nvPr/>
        </p:nvSpPr>
        <p:spPr>
          <a:xfrm>
            <a:off x="723896" y="1489591"/>
            <a:ext cx="2838450" cy="154509"/>
          </a:xfrm>
          <a:prstGeom prst="rect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FEC667-5965-2C1C-0940-CE9EF0D6CAE7}"/>
              </a:ext>
            </a:extLst>
          </p:cNvPr>
          <p:cNvSpPr txBox="1"/>
          <p:nvPr/>
        </p:nvSpPr>
        <p:spPr>
          <a:xfrm>
            <a:off x="752473" y="1690713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5C2D91"/>
                </a:solidFill>
              </a:rPr>
              <a:t>Multi-</a:t>
            </a:r>
            <a:r>
              <a:rPr lang="en-US" b="1" dirty="0" err="1">
                <a:solidFill>
                  <a:srgbClr val="5C2D91"/>
                </a:solidFill>
              </a:rPr>
              <a:t>llngual</a:t>
            </a:r>
            <a:endParaRPr lang="en-US" b="1" dirty="0">
              <a:solidFill>
                <a:srgbClr val="5C2D9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2AFFE-7081-C088-7116-021AD2C0913B}"/>
              </a:ext>
            </a:extLst>
          </p:cNvPr>
          <p:cNvSpPr txBox="1"/>
          <p:nvPr/>
        </p:nvSpPr>
        <p:spPr>
          <a:xfrm>
            <a:off x="781050" y="2279512"/>
            <a:ext cx="275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Arabic, English &amp; Egyptian dialect – auto-detect with </a:t>
            </a:r>
            <a:r>
              <a:rPr lang="en-US" dirty="0" err="1"/>
              <a:t>langdetect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65E42-C511-0EB3-8017-D719020DA4AF}"/>
              </a:ext>
            </a:extLst>
          </p:cNvPr>
          <p:cNvSpPr/>
          <p:nvPr/>
        </p:nvSpPr>
        <p:spPr>
          <a:xfrm>
            <a:off x="723896" y="4194692"/>
            <a:ext cx="2838450" cy="2101334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D80356-6120-3AD1-234B-4D24D364FAAF}"/>
              </a:ext>
            </a:extLst>
          </p:cNvPr>
          <p:cNvSpPr/>
          <p:nvPr/>
        </p:nvSpPr>
        <p:spPr>
          <a:xfrm>
            <a:off x="723896" y="4209339"/>
            <a:ext cx="2838450" cy="154509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923D1-9E8C-B6DB-7D79-3D20714D2A8C}"/>
              </a:ext>
            </a:extLst>
          </p:cNvPr>
          <p:cNvSpPr/>
          <p:nvPr/>
        </p:nvSpPr>
        <p:spPr>
          <a:xfrm>
            <a:off x="8324850" y="4231480"/>
            <a:ext cx="3143254" cy="2064546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F6383-2FED-5BE4-B2CB-6C9EEEF2D4B7}"/>
              </a:ext>
            </a:extLst>
          </p:cNvPr>
          <p:cNvSpPr/>
          <p:nvPr/>
        </p:nvSpPr>
        <p:spPr>
          <a:xfrm>
            <a:off x="8324850" y="4231479"/>
            <a:ext cx="3143254" cy="15180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3E427-B047-9179-A3AA-03A69AAF84E0}"/>
              </a:ext>
            </a:extLst>
          </p:cNvPr>
          <p:cNvSpPr/>
          <p:nvPr/>
        </p:nvSpPr>
        <p:spPr>
          <a:xfrm>
            <a:off x="4371971" y="4209158"/>
            <a:ext cx="3143254" cy="2086868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A4C7D-9ABD-4EAA-19EC-D8DFB7CE685D}"/>
              </a:ext>
            </a:extLst>
          </p:cNvPr>
          <p:cNvSpPr/>
          <p:nvPr/>
        </p:nvSpPr>
        <p:spPr>
          <a:xfrm>
            <a:off x="4371971" y="4231479"/>
            <a:ext cx="3143254" cy="132369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D39738-C8EC-4D59-6F47-31BFCBE7D93F}"/>
              </a:ext>
            </a:extLst>
          </p:cNvPr>
          <p:cNvSpPr/>
          <p:nvPr/>
        </p:nvSpPr>
        <p:spPr>
          <a:xfrm>
            <a:off x="4371971" y="1489591"/>
            <a:ext cx="3143254" cy="2101334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A1B494-33EB-2B81-3C82-03BC9D96FA91}"/>
              </a:ext>
            </a:extLst>
          </p:cNvPr>
          <p:cNvSpPr/>
          <p:nvPr/>
        </p:nvSpPr>
        <p:spPr>
          <a:xfrm>
            <a:off x="4371971" y="1489591"/>
            <a:ext cx="3143254" cy="154509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25DD98-6975-3037-E0E3-73AF03DED5B3}"/>
              </a:ext>
            </a:extLst>
          </p:cNvPr>
          <p:cNvSpPr/>
          <p:nvPr/>
        </p:nvSpPr>
        <p:spPr>
          <a:xfrm>
            <a:off x="8324850" y="1489591"/>
            <a:ext cx="3143254" cy="2101334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2F204-1E6E-0CD1-8E18-FF6F00167B41}"/>
              </a:ext>
            </a:extLst>
          </p:cNvPr>
          <p:cNvSpPr/>
          <p:nvPr/>
        </p:nvSpPr>
        <p:spPr>
          <a:xfrm>
            <a:off x="8324850" y="1489591"/>
            <a:ext cx="3143254" cy="154509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354117-E56D-B02A-521B-900C09929567}"/>
              </a:ext>
            </a:extLst>
          </p:cNvPr>
          <p:cNvSpPr txBox="1"/>
          <p:nvPr/>
        </p:nvSpPr>
        <p:spPr>
          <a:xfrm>
            <a:off x="4371971" y="1661279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97B"/>
                </a:solidFill>
              </a:rPr>
              <a:t>Source Citations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B79AA9-6A22-7732-DA06-12A05A73E562}"/>
              </a:ext>
            </a:extLst>
          </p:cNvPr>
          <p:cNvSpPr txBox="1"/>
          <p:nvPr/>
        </p:nvSpPr>
        <p:spPr>
          <a:xfrm>
            <a:off x="8348662" y="1644100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A623"/>
                </a:solidFill>
              </a:rPr>
              <a:t>Document Upload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C0D577-B3E8-4DC2-4F9C-4E1DC2B0A33B}"/>
              </a:ext>
            </a:extLst>
          </p:cNvPr>
          <p:cNvSpPr txBox="1"/>
          <p:nvPr/>
        </p:nvSpPr>
        <p:spPr>
          <a:xfrm>
            <a:off x="752473" y="4380887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82F2F"/>
                </a:solidFill>
              </a:rPr>
              <a:t>On-premises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0FC7AE-0FAE-1BA4-A303-0B04A373FEF8}"/>
              </a:ext>
            </a:extLst>
          </p:cNvPr>
          <p:cNvSpPr txBox="1"/>
          <p:nvPr/>
        </p:nvSpPr>
        <p:spPr>
          <a:xfrm>
            <a:off x="4438650" y="4372348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5C0"/>
                </a:solidFill>
              </a:rPr>
              <a:t>MMR Retrieval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B26C03-8B8A-1A76-485A-4AD104A58ABD}"/>
              </a:ext>
            </a:extLst>
          </p:cNvPr>
          <p:cNvSpPr txBox="1"/>
          <p:nvPr/>
        </p:nvSpPr>
        <p:spPr>
          <a:xfrm>
            <a:off x="8348662" y="4385935"/>
            <a:ext cx="2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E7D32"/>
                </a:solidFill>
              </a:rPr>
              <a:t>Chat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030DB6-56B2-1AC7-4D31-F8C9519C7FD9}"/>
              </a:ext>
            </a:extLst>
          </p:cNvPr>
          <p:cNvSpPr txBox="1"/>
          <p:nvPr/>
        </p:nvSpPr>
        <p:spPr>
          <a:xfrm>
            <a:off x="4343394" y="2271951"/>
            <a:ext cx="275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answer shows </a:t>
            </a:r>
            <a:r>
              <a:rPr lang="en-US" dirty="0">
                <a:hlinkClick r:id="rId2"/>
              </a:rPr>
              <a:t>te.eg </a:t>
            </a:r>
            <a:r>
              <a:rPr lang="en-US" dirty="0"/>
              <a:t>source links – no hallucination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CCDDF-019A-5F75-B0AD-4812D5DA3600}"/>
              </a:ext>
            </a:extLst>
          </p:cNvPr>
          <p:cNvSpPr txBox="1"/>
          <p:nvPr/>
        </p:nvSpPr>
        <p:spPr>
          <a:xfrm>
            <a:off x="781050" y="5010805"/>
            <a:ext cx="275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100% local – </a:t>
            </a:r>
            <a:r>
              <a:rPr lang="en-US" dirty="0" err="1"/>
              <a:t>ollama</a:t>
            </a:r>
            <a:r>
              <a:rPr lang="en-US" dirty="0"/>
              <a:t> + </a:t>
            </a:r>
            <a:r>
              <a:rPr lang="en-US" dirty="0" err="1"/>
              <a:t>ChromaDB</a:t>
            </a:r>
            <a:r>
              <a:rPr lang="en-US" dirty="0"/>
              <a:t>, no cloud, no API keys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D48B47-2A9E-2528-1FF4-FDB2F38E8197}"/>
              </a:ext>
            </a:extLst>
          </p:cNvPr>
          <p:cNvSpPr txBox="1"/>
          <p:nvPr/>
        </p:nvSpPr>
        <p:spPr>
          <a:xfrm>
            <a:off x="8377239" y="2279512"/>
            <a:ext cx="275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PDF, DOCX, TXT, HTML &amp; Images (OCR) added to knowledge 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04459-4D91-BFB2-C698-8C13A3A8D978}"/>
              </a:ext>
            </a:extLst>
          </p:cNvPr>
          <p:cNvSpPr txBox="1"/>
          <p:nvPr/>
        </p:nvSpPr>
        <p:spPr>
          <a:xfrm>
            <a:off x="8377239" y="5016489"/>
            <a:ext cx="2752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Professional </a:t>
            </a:r>
            <a:r>
              <a:rPr lang="en-US" dirty="0" err="1"/>
              <a:t>Streamlit</a:t>
            </a:r>
            <a:r>
              <a:rPr lang="en-US" dirty="0"/>
              <a:t> UI with conversation history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FC99A1-1215-BE2A-CB40-824ACD50F390}"/>
              </a:ext>
            </a:extLst>
          </p:cNvPr>
          <p:cNvSpPr txBox="1"/>
          <p:nvPr/>
        </p:nvSpPr>
        <p:spPr>
          <a:xfrm>
            <a:off x="4567238" y="5045243"/>
            <a:ext cx="275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Maximal Marginal Relevance reduces redundant context</a:t>
            </a:r>
          </a:p>
        </p:txBody>
      </p:sp>
    </p:spTree>
    <p:extLst>
      <p:ext uri="{BB962C8B-B14F-4D97-AF65-F5344CB8AC3E}">
        <p14:creationId xmlns:p14="http://schemas.microsoft.com/office/powerpoint/2010/main" val="231945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Live Demo – Interface </a:t>
            </a:r>
            <a:endParaRPr 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F438F7-24B7-9EC2-DB31-49A0291DFBC3}"/>
              </a:ext>
            </a:extLst>
          </p:cNvPr>
          <p:cNvSpPr txBox="1"/>
          <p:nvPr/>
        </p:nvSpPr>
        <p:spPr>
          <a:xfrm>
            <a:off x="1090904" y="1151851"/>
            <a:ext cx="31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 Demo – User Interface</a:t>
            </a:r>
          </a:p>
        </p:txBody>
      </p:sp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7FC91C-02A6-70B0-E5C3-CEF4967D1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1609725"/>
            <a:ext cx="11515724" cy="4389859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EC1EFF1-16AE-F64E-9837-86A3A0F6F1FD}"/>
              </a:ext>
            </a:extLst>
          </p:cNvPr>
          <p:cNvSpPr/>
          <p:nvPr/>
        </p:nvSpPr>
        <p:spPr>
          <a:xfrm>
            <a:off x="1884395" y="6245485"/>
            <a:ext cx="8423210" cy="49530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-based UI with Telecom Egypt branding and real-time interaction</a:t>
            </a:r>
          </a:p>
        </p:txBody>
      </p:sp>
    </p:spTree>
    <p:extLst>
      <p:ext uri="{BB962C8B-B14F-4D97-AF65-F5344CB8AC3E}">
        <p14:creationId xmlns:p14="http://schemas.microsoft.com/office/powerpoint/2010/main" val="260613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Live Demo – Interface </a:t>
            </a:r>
            <a:endParaRPr 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F438F7-24B7-9EC2-DB31-49A0291DFBC3}"/>
              </a:ext>
            </a:extLst>
          </p:cNvPr>
          <p:cNvSpPr txBox="1"/>
          <p:nvPr/>
        </p:nvSpPr>
        <p:spPr>
          <a:xfrm>
            <a:off x="1090903" y="1151851"/>
            <a:ext cx="478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 Demo – Question &amp; Answer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EC1EFF1-16AE-F64E-9837-86A3A0F6F1FD}"/>
              </a:ext>
            </a:extLst>
          </p:cNvPr>
          <p:cNvSpPr/>
          <p:nvPr/>
        </p:nvSpPr>
        <p:spPr>
          <a:xfrm>
            <a:off x="1884395" y="6371451"/>
            <a:ext cx="8423210" cy="369333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Supports Arabic, English, and Egyptian dialect with grounded answers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2A82D3-3A18-583D-22F1-104B81A3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1590675"/>
            <a:ext cx="11772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05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Live Demo – Interface </a:t>
            </a:r>
            <a:endParaRPr 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F438F7-24B7-9EC2-DB31-49A0291DFBC3}"/>
              </a:ext>
            </a:extLst>
          </p:cNvPr>
          <p:cNvSpPr txBox="1"/>
          <p:nvPr/>
        </p:nvSpPr>
        <p:spPr>
          <a:xfrm>
            <a:off x="1043278" y="1078468"/>
            <a:ext cx="478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 Demo – Question &amp; Answer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EC1EFF1-16AE-F64E-9837-86A3A0F6F1FD}"/>
              </a:ext>
            </a:extLst>
          </p:cNvPr>
          <p:cNvSpPr/>
          <p:nvPr/>
        </p:nvSpPr>
        <p:spPr>
          <a:xfrm>
            <a:off x="1884395" y="6410325"/>
            <a:ext cx="8423210" cy="330460"/>
          </a:xfrm>
          <a:prstGeom prst="roundRect">
            <a:avLst/>
          </a:prstGeom>
          <a:solidFill>
            <a:srgbClr val="4A2873"/>
          </a:solidFill>
          <a:ln>
            <a:solidFill>
              <a:srgbClr val="9A68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Supports Arabic, English, and Egyptian dialect with grounded answers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D0E9C8-03AB-2EAA-2971-53F44379F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1545193"/>
            <a:ext cx="11753850" cy="46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8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14401"/>
          </a:xfrm>
          <a:prstGeom prst="rect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</a:t>
            </a:r>
            <a:r>
              <a:rPr lang="en-US" sz="2800" b="1" dirty="0"/>
              <a:t>How it Works – User Flow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817C48-0B96-2C7E-B894-E54B3A7C5980}"/>
              </a:ext>
            </a:extLst>
          </p:cNvPr>
          <p:cNvSpPr/>
          <p:nvPr/>
        </p:nvSpPr>
        <p:spPr>
          <a:xfrm>
            <a:off x="2690813" y="2026683"/>
            <a:ext cx="2085974" cy="3648075"/>
          </a:xfrm>
          <a:prstGeom prst="rect">
            <a:avLst/>
          </a:prstGeom>
          <a:solidFill>
            <a:srgbClr val="2A2542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Ollama</a:t>
            </a:r>
            <a:r>
              <a:rPr lang="en-US" dirty="0"/>
              <a:t> serve Loads LLM + Embeddings locally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D227EE-49BD-879D-57F0-18F2DE01D9A6}"/>
              </a:ext>
            </a:extLst>
          </p:cNvPr>
          <p:cNvSpPr/>
          <p:nvPr/>
        </p:nvSpPr>
        <p:spPr>
          <a:xfrm>
            <a:off x="5076826" y="2026683"/>
            <a:ext cx="2085974" cy="3648075"/>
          </a:xfrm>
          <a:prstGeom prst="rect">
            <a:avLst/>
          </a:prstGeom>
          <a:solidFill>
            <a:srgbClr val="2A2542"/>
          </a:solidFill>
          <a:ln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 run app.py Opens at localhost:8501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8550B2-6D2C-518C-7FBE-B23FDE0AA755}"/>
              </a:ext>
            </a:extLst>
          </p:cNvPr>
          <p:cNvSpPr/>
          <p:nvPr/>
        </p:nvSpPr>
        <p:spPr>
          <a:xfrm>
            <a:off x="7462839" y="2026683"/>
            <a:ext cx="2085974" cy="3648075"/>
          </a:xfrm>
          <a:prstGeom prst="rect">
            <a:avLst/>
          </a:prstGeom>
          <a:solidFill>
            <a:srgbClr val="2A2542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Click ‘</a:t>
            </a:r>
            <a:r>
              <a:rPr lang="ar-EG" dirty="0"/>
              <a:t>تحميل البيانات</a:t>
            </a:r>
            <a:r>
              <a:rPr lang="en-US" dirty="0"/>
              <a:t>’ Builds </a:t>
            </a:r>
            <a:r>
              <a:rPr lang="en-US" dirty="0" err="1"/>
              <a:t>ChromaDB</a:t>
            </a:r>
            <a:endParaRPr lang="en-US" dirty="0"/>
          </a:p>
          <a:p>
            <a:pPr algn="ctr"/>
            <a:r>
              <a:rPr lang="en-US" dirty="0"/>
              <a:t>( ~2 min)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1638A5-B49D-68D8-B35E-B06B8D87C897}"/>
              </a:ext>
            </a:extLst>
          </p:cNvPr>
          <p:cNvSpPr/>
          <p:nvPr/>
        </p:nvSpPr>
        <p:spPr>
          <a:xfrm>
            <a:off x="304800" y="2026683"/>
            <a:ext cx="2085974" cy="3648075"/>
          </a:xfrm>
          <a:prstGeom prst="rect">
            <a:avLst/>
          </a:prstGeom>
          <a:solidFill>
            <a:srgbClr val="2A2542"/>
          </a:solidFill>
          <a:ln>
            <a:solidFill>
              <a:srgbClr val="0089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Scraper.py Collects ~40 pages from te.eg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564445-97C9-5259-4106-C1FA8F53965D}"/>
              </a:ext>
            </a:extLst>
          </p:cNvPr>
          <p:cNvSpPr txBox="1"/>
          <p:nvPr/>
        </p:nvSpPr>
        <p:spPr>
          <a:xfrm>
            <a:off x="5076822" y="2144676"/>
            <a:ext cx="208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565C0"/>
                </a:solidFill>
              </a:rPr>
              <a:t>Launch App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B1DF9B-35F9-9258-7D9E-3E30E8923EAC}"/>
              </a:ext>
            </a:extLst>
          </p:cNvPr>
          <p:cNvSpPr txBox="1"/>
          <p:nvPr/>
        </p:nvSpPr>
        <p:spPr>
          <a:xfrm>
            <a:off x="7702152" y="2144676"/>
            <a:ext cx="133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5A623"/>
                </a:solidFill>
              </a:rPr>
              <a:t>Load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0F152-D8CF-F279-B1E8-B34598F72918}"/>
              </a:ext>
            </a:extLst>
          </p:cNvPr>
          <p:cNvSpPr txBox="1"/>
          <p:nvPr/>
        </p:nvSpPr>
        <p:spPr>
          <a:xfrm>
            <a:off x="400049" y="2140151"/>
            <a:ext cx="177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897B"/>
                </a:solidFill>
              </a:rPr>
              <a:t>Run Scraper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051C8C-0979-1CDE-9AA3-E6FE8B87F65D}"/>
              </a:ext>
            </a:extLst>
          </p:cNvPr>
          <p:cNvSpPr txBox="1"/>
          <p:nvPr/>
        </p:nvSpPr>
        <p:spPr>
          <a:xfrm>
            <a:off x="2886075" y="2144676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C2D91"/>
                </a:solidFill>
              </a:rPr>
              <a:t>Start </a:t>
            </a:r>
            <a:r>
              <a:rPr lang="en-US" dirty="0" err="1">
                <a:solidFill>
                  <a:srgbClr val="5C2D91"/>
                </a:solidFill>
              </a:rPr>
              <a:t>Ollama</a:t>
            </a:r>
            <a:endParaRPr lang="en-US" dirty="0">
              <a:solidFill>
                <a:srgbClr val="5C2D9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28A389-F6C8-CF67-44EC-9D8DED0AB554}"/>
              </a:ext>
            </a:extLst>
          </p:cNvPr>
          <p:cNvCxnSpPr>
            <a:cxnSpLocks/>
          </p:cNvCxnSpPr>
          <p:nvPr/>
        </p:nvCxnSpPr>
        <p:spPr>
          <a:xfrm>
            <a:off x="2524125" y="3817861"/>
            <a:ext cx="166688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C8F143-CDEE-952C-E78C-3E6187FB2A05}"/>
              </a:ext>
            </a:extLst>
          </p:cNvPr>
          <p:cNvCxnSpPr>
            <a:cxnSpLocks/>
          </p:cNvCxnSpPr>
          <p:nvPr/>
        </p:nvCxnSpPr>
        <p:spPr>
          <a:xfrm>
            <a:off x="4905375" y="3817861"/>
            <a:ext cx="171451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0A63FC-CADD-2DE3-A3EC-F3BF4CE8C2E7}"/>
              </a:ext>
            </a:extLst>
          </p:cNvPr>
          <p:cNvCxnSpPr>
            <a:cxnSpLocks/>
          </p:cNvCxnSpPr>
          <p:nvPr/>
        </p:nvCxnSpPr>
        <p:spPr>
          <a:xfrm>
            <a:off x="7305675" y="3817861"/>
            <a:ext cx="157164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0FC1167-86D7-66FD-7B07-FF56DB23BF8B}"/>
              </a:ext>
            </a:extLst>
          </p:cNvPr>
          <p:cNvSpPr/>
          <p:nvPr/>
        </p:nvSpPr>
        <p:spPr>
          <a:xfrm>
            <a:off x="9848854" y="2026683"/>
            <a:ext cx="2085974" cy="3648075"/>
          </a:xfrm>
          <a:prstGeom prst="rect">
            <a:avLst/>
          </a:prstGeom>
          <a:solidFill>
            <a:srgbClr val="2A2542"/>
          </a:solidFill>
          <a:ln>
            <a:solidFill>
              <a:srgbClr val="2E7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Arabic or English Get grounded answers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4D9C24-CFA2-5C7E-FACB-CE40C486D7B1}"/>
              </a:ext>
            </a:extLst>
          </p:cNvPr>
          <p:cNvSpPr txBox="1"/>
          <p:nvPr/>
        </p:nvSpPr>
        <p:spPr>
          <a:xfrm>
            <a:off x="9982200" y="2140151"/>
            <a:ext cx="1632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E7D32"/>
                </a:solidFill>
              </a:rPr>
              <a:t>Ask Questions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3E35636-F190-F4B2-BEC4-86FCCAF37397}"/>
              </a:ext>
            </a:extLst>
          </p:cNvPr>
          <p:cNvCxnSpPr>
            <a:cxnSpLocks/>
          </p:cNvCxnSpPr>
          <p:nvPr/>
        </p:nvCxnSpPr>
        <p:spPr>
          <a:xfrm>
            <a:off x="9686925" y="3817861"/>
            <a:ext cx="161927" cy="0"/>
          </a:xfrm>
          <a:prstGeom prst="line">
            <a:avLst/>
          </a:prstGeom>
          <a:ln>
            <a:solidFill>
              <a:srgbClr val="EDA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069B5CE8-1F9F-C723-B146-2EE917118315}"/>
              </a:ext>
            </a:extLst>
          </p:cNvPr>
          <p:cNvSpPr/>
          <p:nvPr/>
        </p:nvSpPr>
        <p:spPr>
          <a:xfrm>
            <a:off x="947737" y="1153300"/>
            <a:ext cx="800100" cy="752475"/>
          </a:xfrm>
          <a:prstGeom prst="flowChartConnector">
            <a:avLst/>
          </a:prstGeom>
          <a:solidFill>
            <a:srgbClr val="0089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62C94EA9-1FA9-E114-9C50-47D489F49AAF}"/>
              </a:ext>
            </a:extLst>
          </p:cNvPr>
          <p:cNvSpPr/>
          <p:nvPr/>
        </p:nvSpPr>
        <p:spPr>
          <a:xfrm>
            <a:off x="3333750" y="1153300"/>
            <a:ext cx="800100" cy="752475"/>
          </a:xfrm>
          <a:prstGeom prst="flowChartConnector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1B9F3524-4FBD-3C5C-B963-8DE0FD7C000E}"/>
              </a:ext>
            </a:extLst>
          </p:cNvPr>
          <p:cNvSpPr/>
          <p:nvPr/>
        </p:nvSpPr>
        <p:spPr>
          <a:xfrm>
            <a:off x="5695950" y="1153300"/>
            <a:ext cx="800100" cy="752475"/>
          </a:xfrm>
          <a:prstGeom prst="flowChartConnector">
            <a:avLst/>
          </a:prstGeom>
          <a:solidFill>
            <a:srgbClr val="1565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97E1A51A-4D50-1095-5CE8-2C5449B4992F}"/>
              </a:ext>
            </a:extLst>
          </p:cNvPr>
          <p:cNvSpPr/>
          <p:nvPr/>
        </p:nvSpPr>
        <p:spPr>
          <a:xfrm>
            <a:off x="7967662" y="1153300"/>
            <a:ext cx="800100" cy="752475"/>
          </a:xfrm>
          <a:prstGeom prst="flowChartConnector">
            <a:avLst/>
          </a:prstGeom>
          <a:solidFill>
            <a:srgbClr val="F5A6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162A4B93-A3AD-EE8C-94D3-9E2EF9C053F4}"/>
              </a:ext>
            </a:extLst>
          </p:cNvPr>
          <p:cNvSpPr/>
          <p:nvPr/>
        </p:nvSpPr>
        <p:spPr>
          <a:xfrm>
            <a:off x="10491791" y="1153300"/>
            <a:ext cx="800100" cy="752475"/>
          </a:xfrm>
          <a:prstGeom prst="flowChartConnector">
            <a:avLst/>
          </a:prstGeom>
          <a:solidFill>
            <a:srgbClr val="2E7D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058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Challenges &amp; Solutions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FEC667-5965-2C1C-0940-CE9EF0D6CAE7}"/>
              </a:ext>
            </a:extLst>
          </p:cNvPr>
          <p:cNvSpPr txBox="1"/>
          <p:nvPr/>
        </p:nvSpPr>
        <p:spPr>
          <a:xfrm>
            <a:off x="2032000" y="1609849"/>
            <a:ext cx="445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2F2F"/>
                </a:solidFill>
              </a:rPr>
              <a:t>Challenges &amp; Solutions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7CC86F-1FE8-61D6-A055-18E30A642511}"/>
              </a:ext>
            </a:extLst>
          </p:cNvPr>
          <p:cNvSpPr/>
          <p:nvPr/>
        </p:nvSpPr>
        <p:spPr>
          <a:xfrm>
            <a:off x="0" y="6457889"/>
            <a:ext cx="12192000" cy="400110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Telecom Egypt Intelligent Assistant | Built on </a:t>
            </a:r>
            <a:r>
              <a:rPr lang="en-US" dirty="0">
                <a:hlinkClick r:id="rId2"/>
              </a:rPr>
              <a:t>te.eg </a:t>
            </a:r>
            <a:r>
              <a:rPr lang="en-US" dirty="0"/>
              <a:t>| On-premises RAG | 2026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ADCE91-FA1D-56B3-D733-BBBF833CE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258648"/>
              </p:ext>
            </p:extLst>
          </p:nvPr>
        </p:nvGraphicFramePr>
        <p:xfrm>
          <a:off x="2032000" y="2343580"/>
          <a:ext cx="8128000" cy="230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1776595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58243939"/>
                    </a:ext>
                  </a:extLst>
                </a:gridCol>
              </a:tblGrid>
              <a:tr h="460838">
                <a:tc>
                  <a:txBody>
                    <a:bodyPr/>
                    <a:lstStyle/>
                    <a:p>
                      <a:r>
                        <a:rPr lang="en-US" dirty="0"/>
                        <a:t>Challenge</a:t>
                      </a:r>
                    </a:p>
                  </a:txBody>
                  <a:tcPr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 anchor="ctr"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41653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r>
                        <a:rPr lang="en-US" dirty="0"/>
                        <a:t>Hallucination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 + Source filtering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25026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r>
                        <a:rPr lang="en-US" dirty="0"/>
                        <a:t>Arabic dialect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 prompt + </a:t>
                      </a:r>
                      <a:r>
                        <a:rPr lang="en-US" dirty="0" err="1"/>
                        <a:t>langdetect</a:t>
                      </a:r>
                      <a:endParaRPr lang="en-US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122567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r>
                        <a:rPr lang="en-US" dirty="0"/>
                        <a:t>Encoding errors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clean_text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184692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r>
                        <a:rPr lang="en-US" dirty="0"/>
                        <a:t>Large documents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Chunking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82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33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81076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</a:t>
            </a:r>
            <a:r>
              <a:rPr lang="en-US" sz="2800" b="1" dirty="0"/>
              <a:t>Deliverables &amp; Conclusion 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FEC667-5965-2C1C-0940-CE9EF0D6CAE7}"/>
              </a:ext>
            </a:extLst>
          </p:cNvPr>
          <p:cNvSpPr txBox="1"/>
          <p:nvPr/>
        </p:nvSpPr>
        <p:spPr>
          <a:xfrm>
            <a:off x="781050" y="1104900"/>
            <a:ext cx="445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2F2F"/>
                </a:solidFill>
              </a:rPr>
              <a:t>Required Deliverables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2AFFE-7081-C088-7116-021AD2C0913B}"/>
              </a:ext>
            </a:extLst>
          </p:cNvPr>
          <p:cNvSpPr txBox="1"/>
          <p:nvPr/>
        </p:nvSpPr>
        <p:spPr>
          <a:xfrm>
            <a:off x="781050" y="4590187"/>
            <a:ext cx="8905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local RAG System – zero cloud dependency, data stays on-premises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Arabic, English &amp; Egyptian dialect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Grounded responses – answers bounded by official </a:t>
            </a:r>
            <a:r>
              <a:rPr lang="en-US" dirty="0">
                <a:hlinkClick r:id="rId2"/>
              </a:rPr>
              <a:t>te.eg </a:t>
            </a:r>
            <a:r>
              <a:rPr lang="en-US" dirty="0"/>
              <a:t>content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Extensible – users can upload additional documents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Production-ready architecture-scales with more URLs and documents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F25C24-6EB8-5D86-58F6-FC915661D808}"/>
              </a:ext>
            </a:extLst>
          </p:cNvPr>
          <p:cNvSpPr txBox="1"/>
          <p:nvPr/>
        </p:nvSpPr>
        <p:spPr>
          <a:xfrm>
            <a:off x="781050" y="4143375"/>
            <a:ext cx="445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C2D91"/>
                </a:solidFill>
              </a:rPr>
              <a:t>Key Takeaways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507C3F-FDAF-6CC7-2898-2C7E98AB504A}"/>
              </a:ext>
            </a:extLst>
          </p:cNvPr>
          <p:cNvGraphicFramePr>
            <a:graphicFrameLocks noGrp="1"/>
          </p:cNvGraphicFramePr>
          <p:nvPr/>
        </p:nvGraphicFramePr>
        <p:xfrm>
          <a:off x="714375" y="1785537"/>
          <a:ext cx="10848975" cy="235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097">
                  <a:extLst>
                    <a:ext uri="{9D8B030D-6E8A-4147-A177-3AD203B41FA5}">
                      <a16:colId xmlns:a16="http://schemas.microsoft.com/office/drawing/2014/main" val="1714605095"/>
                    </a:ext>
                  </a:extLst>
                </a:gridCol>
                <a:gridCol w="2545553">
                  <a:extLst>
                    <a:ext uri="{9D8B030D-6E8A-4147-A177-3AD203B41FA5}">
                      <a16:colId xmlns:a16="http://schemas.microsoft.com/office/drawing/2014/main" val="1408454422"/>
                    </a:ext>
                  </a:extLst>
                </a:gridCol>
                <a:gridCol w="3616325">
                  <a:extLst>
                    <a:ext uri="{9D8B030D-6E8A-4147-A177-3AD203B41FA5}">
                      <a16:colId xmlns:a16="http://schemas.microsoft.com/office/drawing/2014/main" val="4097772650"/>
                    </a:ext>
                  </a:extLst>
                </a:gridCol>
              </a:tblGrid>
              <a:tr h="471568">
                <a:tc>
                  <a:txBody>
                    <a:bodyPr/>
                    <a:lstStyle/>
                    <a:p>
                      <a:r>
                        <a:rPr lang="en-US" dirty="0"/>
                        <a:t>Deliverable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39334"/>
                  </a:ext>
                </a:extLst>
              </a:tr>
              <a:tr h="471568">
                <a:tc>
                  <a:txBody>
                    <a:bodyPr/>
                    <a:lstStyle/>
                    <a:p>
                      <a:r>
                        <a:rPr lang="en-US" dirty="0"/>
                        <a:t>Working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Streamlit</a:t>
                      </a:r>
                      <a:r>
                        <a:rPr lang="en-US" dirty="0"/>
                        <a:t> App + Localhost:8501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810400"/>
                  </a:ext>
                </a:extLst>
              </a:tr>
              <a:tr h="471568">
                <a:tc>
                  <a:txBody>
                    <a:bodyPr/>
                    <a:lstStyle/>
                    <a:p>
                      <a:r>
                        <a:rPr lang="en-US" dirty="0"/>
                        <a:t>Python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 code with explanations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74421"/>
                  </a:ext>
                </a:extLst>
              </a:tr>
              <a:tr h="471568">
                <a:tc>
                  <a:txBody>
                    <a:bodyPr/>
                    <a:lstStyle/>
                    <a:p>
                      <a:r>
                        <a:rPr lang="en-US" dirty="0"/>
                        <a:t>Presentation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PPT with System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098699"/>
                  </a:ext>
                </a:extLst>
              </a:tr>
              <a:tr h="471568">
                <a:tc>
                  <a:txBody>
                    <a:bodyPr/>
                    <a:lstStyle/>
                    <a:p>
                      <a:r>
                        <a:rPr lang="en-US" dirty="0"/>
                        <a:t>README / Documentation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Setup + Usage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8687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47CC86F-1FE8-61D6-A055-18E30A642511}"/>
              </a:ext>
            </a:extLst>
          </p:cNvPr>
          <p:cNvSpPr/>
          <p:nvPr/>
        </p:nvSpPr>
        <p:spPr>
          <a:xfrm>
            <a:off x="0" y="6457889"/>
            <a:ext cx="12192000" cy="400110"/>
          </a:xfrm>
          <a:prstGeom prst="rect">
            <a:avLst/>
          </a:prstGeom>
          <a:solidFill>
            <a:srgbClr val="5C2D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Telecom Egypt Intelligent Assistant | Built on </a:t>
            </a:r>
            <a:r>
              <a:rPr lang="en-US" dirty="0">
                <a:hlinkClick r:id="rId2"/>
              </a:rPr>
              <a:t>te.eg </a:t>
            </a:r>
            <a:r>
              <a:rPr lang="en-US" dirty="0"/>
              <a:t>| On-premises RAG | 2026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6537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D5F85-CEBD-7286-B7F9-0C7C47CB6C92}"/>
              </a:ext>
            </a:extLst>
          </p:cNvPr>
          <p:cNvSpPr/>
          <p:nvPr/>
        </p:nvSpPr>
        <p:spPr>
          <a:xfrm>
            <a:off x="1" y="-1"/>
            <a:ext cx="12192000" cy="914401"/>
          </a:xfrm>
          <a:prstGeom prst="rect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</a:t>
            </a:r>
            <a:r>
              <a:rPr lang="en-US" sz="2800" b="1" dirty="0"/>
              <a:t>Project Repository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564445-97C9-5259-4106-C1FA8F53965D}"/>
              </a:ext>
            </a:extLst>
          </p:cNvPr>
          <p:cNvSpPr txBox="1"/>
          <p:nvPr/>
        </p:nvSpPr>
        <p:spPr>
          <a:xfrm>
            <a:off x="1076325" y="1725576"/>
            <a:ext cx="10039350" cy="305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GitHub Repository: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hlinkClick r:id="rId2"/>
              </a:rPr>
              <a:t>https://github.com/Youssef1Moustafa/RAG-Powered-Customer-Service-Chatbot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Includes: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- Full Source Code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- RAG Pipeline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Streamlit</a:t>
            </a:r>
            <a:r>
              <a:rPr lang="en-US" dirty="0">
                <a:solidFill>
                  <a:schemeClr val="bg1"/>
                </a:solidFill>
              </a:rPr>
              <a:t> App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- Documentation &amp; Setup</a:t>
            </a:r>
          </a:p>
        </p:txBody>
      </p:sp>
      <p:pic>
        <p:nvPicPr>
          <p:cNvPr id="3" name="Picture 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BDB5B0A-5E8B-3A5D-35C7-D0B97DA9A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100" y="3009900"/>
            <a:ext cx="42862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6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525</Words>
  <Application>Microsoft Office PowerPoint</Application>
  <PresentationFormat>Widescreen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Telecom Egypt  Intelligent Assistant  RAG-Powered Customer Service Chatbot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Moustafa Youssef</dc:creator>
  <cp:lastModifiedBy>Youssef Moustafa Youssef</cp:lastModifiedBy>
  <cp:revision>10</cp:revision>
  <dcterms:created xsi:type="dcterms:W3CDTF">2026-04-14T21:35:06Z</dcterms:created>
  <dcterms:modified xsi:type="dcterms:W3CDTF">2026-04-15T14:44:14Z</dcterms:modified>
</cp:coreProperties>
</file>